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 Slab"/>
      <p:regular r:id="rId32"/>
      <p:bold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Slab-bold.fntdata"/><Relationship Id="rId10" Type="http://schemas.openxmlformats.org/officeDocument/2006/relationships/slide" Target="slides/slide5.xml"/><Relationship Id="rId32" Type="http://schemas.openxmlformats.org/officeDocument/2006/relationships/font" Target="fonts/RobotoSlab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.fntdata"/><Relationship Id="rId12" Type="http://schemas.openxmlformats.org/officeDocument/2006/relationships/slide" Target="slides/slide7.xml"/><Relationship Id="rId34" Type="http://schemas.openxmlformats.org/officeDocument/2006/relationships/font" Target="fonts/Robot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-italic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.fntdata"/><Relationship Id="rId16" Type="http://schemas.openxmlformats.org/officeDocument/2006/relationships/slide" Target="slides/slide11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aee95d6fb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aee95d6fb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130a871fe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130a871fe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aee95d6fb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aee95d6fb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aee95d6fb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aee95d6fb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aee95d6fb_0_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aee95d6fb_0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aee95d6fb_0_9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aee95d6fb_0_9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aee95d6fb_0_9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aee95d6fb_0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ee95d6f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aee95d6f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aee95d6fb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aee95d6fb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30a871fe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130a871fe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f5a53c9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f5a53c9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f5a53c94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f5a53c94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f5a53c940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f5a53c940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f5a53c940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f5a53c94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f5a53c940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f5a53c940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f5a53c940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f5a53c940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130a871f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130a871f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130a871f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130a871f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108ec87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108ec87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108ec873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108ec873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108ec873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108ec873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108ec873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108ec873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108ec873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108ec873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130a871f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130a871f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aee95d6f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aee95d6f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Influencer Popularity Predictor: A social Media Data Science Project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BEBEBE"/>
              </a:gs>
            </a:gsLst>
            <a:lin ang="5400012" scaled="0"/>
          </a:gra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i="1" lang="en" sz="2340">
                <a:solidFill>
                  <a:srgbClr val="000000"/>
                </a:solidFill>
              </a:rPr>
              <a:t>K</a:t>
            </a:r>
            <a:r>
              <a:rPr i="1" lang="en" sz="2340">
                <a:solidFill>
                  <a:srgbClr val="000000"/>
                </a:solidFill>
              </a:rPr>
              <a:t>-pop Influencer Analysis &amp; Prediction</a:t>
            </a:r>
            <a:endParaRPr i="1" sz="234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214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140"/>
              <a:t>         </a:t>
            </a:r>
            <a:r>
              <a:rPr lang="en" sz="1740">
                <a:solidFill>
                  <a:srgbClr val="990000"/>
                </a:solidFill>
              </a:rPr>
              <a:t>Internship Review-ICT Academy of Kerala</a:t>
            </a:r>
            <a:endParaRPr sz="1740"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74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740"/>
              <a:t>                                                                 </a:t>
            </a:r>
            <a:r>
              <a:rPr lang="en" sz="1340">
                <a:solidFill>
                  <a:srgbClr val="00FF00"/>
                </a:solidFill>
              </a:rPr>
              <a:t>-Anisha B Nair</a:t>
            </a:r>
            <a:endParaRPr sz="134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140">
                <a:solidFill>
                  <a:srgbClr val="CC0000"/>
                </a:solidFill>
              </a:rPr>
              <a:t>                       </a:t>
            </a:r>
            <a:endParaRPr sz="214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140"/>
              <a:t> </a:t>
            </a:r>
            <a:endParaRPr sz="21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Collect and analyze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K-pop YouTube influencer data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to identify key performance metrics.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Predict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influencer popularity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using machine learning models.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Evaluate model performance using cross-validation, test accuracy, and F1 scores.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Deploy the trained model as an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interactive web app on PythonAnywhere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for real-time predictions.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Gain actionable insights into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subscriber growth, video engagement, and overall channel performance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Support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data-driven decisions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for influencer marketing and content strategy.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Make the predictive model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accessible to users online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, enabling practical application of results.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Dataset Overview</a:t>
            </a:r>
            <a:endParaRPr sz="3100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3194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Dataset Summary: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Number of Influencers:</a:t>
            </a:r>
            <a:r>
              <a:rPr lang="en" sz="1600">
                <a:solidFill>
                  <a:schemeClr val="dk1"/>
                </a:solidFill>
              </a:rPr>
              <a:t> 1001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Source:</a:t>
            </a:r>
            <a:r>
              <a:rPr lang="en" sz="1600">
                <a:solidFill>
                  <a:schemeClr val="dk1"/>
                </a:solidFill>
              </a:rPr>
              <a:t> YouTube (K-pop related channels)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Collected Using:</a:t>
            </a:r>
            <a:r>
              <a:rPr lang="en" sz="1600">
                <a:solidFill>
                  <a:schemeClr val="dk1"/>
                </a:solidFill>
              </a:rPr>
              <a:t> Python + YouTube Data API v3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Features Included: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Subscribers</a:t>
            </a:r>
            <a:r>
              <a:rPr lang="en" sz="1600">
                <a:solidFill>
                  <a:schemeClr val="dk1"/>
                </a:solidFill>
              </a:rPr>
              <a:t> – Total channel subscribers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Views</a:t>
            </a:r>
            <a:r>
              <a:rPr lang="en" sz="1600">
                <a:solidFill>
                  <a:schemeClr val="dk1"/>
                </a:solidFill>
              </a:rPr>
              <a:t> – Total channel views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Videos</a:t>
            </a:r>
            <a:r>
              <a:rPr lang="en" sz="1600">
                <a:solidFill>
                  <a:schemeClr val="dk1"/>
                </a:solidFill>
              </a:rPr>
              <a:t> – Total number of uploaded videos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Avg Views per Video</a:t>
            </a:r>
            <a:r>
              <a:rPr lang="en" sz="1600">
                <a:solidFill>
                  <a:schemeClr val="dk1"/>
                </a:solidFill>
              </a:rPr>
              <a:t> – Views ÷ Videos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Subscribers per Video</a:t>
            </a:r>
            <a:r>
              <a:rPr lang="en" sz="1600">
                <a:solidFill>
                  <a:schemeClr val="dk1"/>
                </a:solidFill>
              </a:rPr>
              <a:t> – Subscribers ÷ Videos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Views per Subscriber</a:t>
            </a:r>
            <a:r>
              <a:rPr lang="en" sz="1600">
                <a:solidFill>
                  <a:schemeClr val="dk1"/>
                </a:solidFill>
              </a:rPr>
              <a:t> – Views ÷ Subscribers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Popularity Score</a:t>
            </a:r>
            <a:r>
              <a:rPr lang="en" sz="1600">
                <a:solidFill>
                  <a:schemeClr val="dk1"/>
                </a:solidFill>
              </a:rPr>
              <a:t> – Subscribers × Avg Views per Video ÷ 1,000,000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" sz="1600">
                <a:solidFill>
                  <a:schemeClr val="dk1"/>
                </a:solidFill>
              </a:rPr>
              <a:t>Video Saturation</a:t>
            </a:r>
            <a:r>
              <a:rPr lang="en" sz="1600">
                <a:solidFill>
                  <a:schemeClr val="dk1"/>
                </a:solidFill>
              </a:rPr>
              <a:t> – Videos ÷ Subscribers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Process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chemeClr val="dk1"/>
                </a:solidFill>
              </a:rPr>
              <a:t>Tools &amp; Technologies:</a:t>
            </a:r>
            <a:endParaRPr b="1" sz="6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0">
                <a:solidFill>
                  <a:schemeClr val="dk1"/>
                </a:solidFill>
              </a:rPr>
              <a:t>Python</a:t>
            </a:r>
            <a:endParaRPr sz="6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0">
                <a:solidFill>
                  <a:schemeClr val="dk1"/>
                </a:solidFill>
              </a:rPr>
              <a:t>YouTube Data API v3</a:t>
            </a:r>
            <a:endParaRPr sz="6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0">
                <a:solidFill>
                  <a:schemeClr val="dk1"/>
                </a:solidFill>
              </a:rPr>
              <a:t>Pandas for data handling</a:t>
            </a:r>
            <a:endParaRPr sz="6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6000">
                <a:solidFill>
                  <a:schemeClr val="dk1"/>
                </a:solidFill>
              </a:rPr>
              <a:t>Excel for final dataset</a:t>
            </a:r>
            <a:endParaRPr sz="6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dk1"/>
                </a:solidFill>
              </a:rPr>
              <a:t>Steps:</a:t>
            </a:r>
            <a:endParaRPr b="1" sz="6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6000">
                <a:solidFill>
                  <a:schemeClr val="dk1"/>
                </a:solidFill>
              </a:rPr>
              <a:t>Keyword Search:</a:t>
            </a:r>
            <a:r>
              <a:rPr lang="en" sz="6000">
                <a:solidFill>
                  <a:schemeClr val="dk1"/>
                </a:solidFill>
              </a:rPr>
              <a:t> Searched multiple K-pop related keywords (e.g., BTS, BLACKPINK, Stray Kids).</a:t>
            </a:r>
            <a:endParaRPr sz="6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6000">
                <a:solidFill>
                  <a:schemeClr val="dk1"/>
                </a:solidFill>
              </a:rPr>
              <a:t>Unique Channel Collection:</a:t>
            </a:r>
            <a:r>
              <a:rPr lang="en" sz="6000">
                <a:solidFill>
                  <a:schemeClr val="dk1"/>
                </a:solidFill>
              </a:rPr>
              <a:t> Collected 1001 unique YouTube channels.</a:t>
            </a:r>
            <a:endParaRPr sz="6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6000">
                <a:solidFill>
                  <a:schemeClr val="dk1"/>
                </a:solidFill>
              </a:rPr>
              <a:t>Fetch Channel Statistics:</a:t>
            </a:r>
            <a:r>
              <a:rPr lang="en" sz="6000">
                <a:solidFill>
                  <a:schemeClr val="dk1"/>
                </a:solidFill>
              </a:rPr>
              <a:t> Retrieved subscribers, views, and video count for each channel.</a:t>
            </a:r>
            <a:endParaRPr sz="6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6000">
                <a:solidFill>
                  <a:schemeClr val="dk1"/>
                </a:solidFill>
              </a:rPr>
              <a:t>Calculate Metrics:</a:t>
            </a:r>
            <a:r>
              <a:rPr lang="en" sz="6000">
                <a:solidFill>
                  <a:schemeClr val="dk1"/>
                </a:solidFill>
              </a:rPr>
              <a:t> Derived Avg Views per Video, Subscribers per Video, Views per Subscriber, Popularity Score, and Video Saturation.</a:t>
            </a:r>
            <a:endParaRPr sz="6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en" sz="6000">
                <a:solidFill>
                  <a:schemeClr val="dk1"/>
                </a:solidFill>
              </a:rPr>
              <a:t>Save Dataset:</a:t>
            </a:r>
            <a:r>
              <a:rPr lang="en" sz="6000">
                <a:solidFill>
                  <a:schemeClr val="dk1"/>
                </a:solidFill>
              </a:rPr>
              <a:t> Final dataset saved as Excel for analysis and prediction.</a:t>
            </a:r>
            <a:endParaRPr sz="6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Metrics &amp; Features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517">
                <a:solidFill>
                  <a:schemeClr val="dk1"/>
                </a:solidFill>
              </a:rPr>
              <a:t>Core Numeric Metrics:</a:t>
            </a:r>
            <a:endParaRPr b="1" sz="1517">
              <a:solidFill>
                <a:schemeClr val="dk1"/>
              </a:solidFill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b="1" lang="en" sz="1517">
                <a:solidFill>
                  <a:schemeClr val="dk1"/>
                </a:solidFill>
              </a:rPr>
              <a:t>Subscribers:</a:t>
            </a:r>
            <a:r>
              <a:rPr lang="en" sz="1517">
                <a:solidFill>
                  <a:schemeClr val="dk1"/>
                </a:solidFill>
              </a:rPr>
              <a:t> Total number of subscribers for the channel</a:t>
            </a:r>
            <a:endParaRPr sz="1517">
              <a:solidFill>
                <a:schemeClr val="dk1"/>
              </a:solidFill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b="1" lang="en" sz="1517">
                <a:solidFill>
                  <a:schemeClr val="dk1"/>
                </a:solidFill>
              </a:rPr>
              <a:t>Views:</a:t>
            </a:r>
            <a:r>
              <a:rPr lang="en" sz="1517">
                <a:solidFill>
                  <a:schemeClr val="dk1"/>
                </a:solidFill>
              </a:rPr>
              <a:t> Total channel views</a:t>
            </a:r>
            <a:endParaRPr sz="1517">
              <a:solidFill>
                <a:schemeClr val="dk1"/>
              </a:solidFill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b="1" lang="en" sz="1517">
                <a:solidFill>
                  <a:schemeClr val="dk1"/>
                </a:solidFill>
              </a:rPr>
              <a:t>Videos:</a:t>
            </a:r>
            <a:r>
              <a:rPr lang="en" sz="1517">
                <a:solidFill>
                  <a:schemeClr val="dk1"/>
                </a:solidFill>
              </a:rPr>
              <a:t> Total number of uploaded videos</a:t>
            </a:r>
            <a:endParaRPr sz="15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517">
                <a:solidFill>
                  <a:schemeClr val="dk1"/>
                </a:solidFill>
              </a:rPr>
              <a:t>Derived Metrics:</a:t>
            </a:r>
            <a:endParaRPr b="1" sz="1517">
              <a:solidFill>
                <a:schemeClr val="dk1"/>
              </a:solidFill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b="1" lang="en" sz="1517">
                <a:solidFill>
                  <a:schemeClr val="dk1"/>
                </a:solidFill>
              </a:rPr>
              <a:t>Avg Views per Video:</a:t>
            </a:r>
            <a:r>
              <a:rPr lang="en" sz="1517">
                <a:solidFill>
                  <a:schemeClr val="dk1"/>
                </a:solidFill>
              </a:rPr>
              <a:t> Views ÷ Videos</a:t>
            </a:r>
            <a:endParaRPr sz="1517">
              <a:solidFill>
                <a:schemeClr val="dk1"/>
              </a:solidFill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b="1" lang="en" sz="1517">
                <a:solidFill>
                  <a:schemeClr val="dk1"/>
                </a:solidFill>
              </a:rPr>
              <a:t>Subscribers per Video:</a:t>
            </a:r>
            <a:r>
              <a:rPr lang="en" sz="1517">
                <a:solidFill>
                  <a:schemeClr val="dk1"/>
                </a:solidFill>
              </a:rPr>
              <a:t> Subscribers ÷ Videos</a:t>
            </a:r>
            <a:endParaRPr sz="1517">
              <a:solidFill>
                <a:schemeClr val="dk1"/>
              </a:solidFill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b="1" lang="en" sz="1517">
                <a:solidFill>
                  <a:schemeClr val="dk1"/>
                </a:solidFill>
              </a:rPr>
              <a:t>Views per Subscriber:</a:t>
            </a:r>
            <a:r>
              <a:rPr lang="en" sz="1517">
                <a:solidFill>
                  <a:schemeClr val="dk1"/>
                </a:solidFill>
              </a:rPr>
              <a:t> Views ÷ Subscribers</a:t>
            </a:r>
            <a:endParaRPr sz="15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517">
                <a:solidFill>
                  <a:schemeClr val="dk1"/>
                </a:solidFill>
              </a:rPr>
              <a:t>Optional Features:</a:t>
            </a:r>
            <a:endParaRPr b="1" sz="1517">
              <a:solidFill>
                <a:schemeClr val="dk1"/>
              </a:solidFill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b="1" lang="en" sz="1517">
                <a:solidFill>
                  <a:schemeClr val="dk1"/>
                </a:solidFill>
              </a:rPr>
              <a:t>Popularity Score:</a:t>
            </a:r>
            <a:r>
              <a:rPr lang="en" sz="1517">
                <a:solidFill>
                  <a:schemeClr val="dk1"/>
                </a:solidFill>
              </a:rPr>
              <a:t> Subscribers × Avg Views per Video ÷ 1,000,000</a:t>
            </a:r>
            <a:endParaRPr sz="1517">
              <a:solidFill>
                <a:schemeClr val="dk1"/>
              </a:solidFill>
            </a:endParaRPr>
          </a:p>
          <a:p>
            <a:pPr indent="-3249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8"/>
              <a:buChar char="●"/>
            </a:pPr>
            <a:r>
              <a:rPr b="1" lang="en" sz="1517">
                <a:solidFill>
                  <a:schemeClr val="dk1"/>
                </a:solidFill>
              </a:rPr>
              <a:t>Video Saturation:</a:t>
            </a:r>
            <a:r>
              <a:rPr lang="en" sz="1517">
                <a:solidFill>
                  <a:schemeClr val="dk1"/>
                </a:solidFill>
              </a:rPr>
              <a:t> Videos ÷ Subscribers</a:t>
            </a:r>
            <a:endParaRPr sz="151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216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45550" y="3521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45550" y="1362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270">
                <a:solidFill>
                  <a:schemeClr val="dk1"/>
                </a:solidFill>
              </a:rPr>
              <a:t>Top Channels:</a:t>
            </a:r>
            <a:endParaRPr b="1" sz="1270">
              <a:solidFill>
                <a:schemeClr val="dk1"/>
              </a:solidFill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70"/>
              <a:buChar char="●"/>
            </a:pPr>
            <a:r>
              <a:rPr lang="en" sz="1270">
                <a:solidFill>
                  <a:schemeClr val="dk1"/>
                </a:solidFill>
              </a:rPr>
              <a:t>Highlighted top 5–10 channels based on </a:t>
            </a:r>
            <a:r>
              <a:rPr b="1" lang="en" sz="1270">
                <a:solidFill>
                  <a:schemeClr val="dk1"/>
                </a:solidFill>
              </a:rPr>
              <a:t>Popularity Score</a:t>
            </a:r>
            <a:r>
              <a:rPr lang="en" sz="1270">
                <a:solidFill>
                  <a:schemeClr val="dk1"/>
                </a:solidFill>
              </a:rPr>
              <a:t> or </a:t>
            </a:r>
            <a:r>
              <a:rPr b="1" lang="en" sz="1270">
                <a:solidFill>
                  <a:schemeClr val="dk1"/>
                </a:solidFill>
              </a:rPr>
              <a:t>Subscribers</a:t>
            </a:r>
            <a:endParaRPr b="1" sz="1270">
              <a:solidFill>
                <a:schemeClr val="dk1"/>
              </a:solidFill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0"/>
              <a:buChar char="●"/>
            </a:pPr>
            <a:r>
              <a:rPr lang="en" sz="1270">
                <a:solidFill>
                  <a:schemeClr val="dk1"/>
                </a:solidFill>
              </a:rPr>
              <a:t>Example insight: Channels with </a:t>
            </a:r>
            <a:r>
              <a:rPr b="1" lang="en" sz="1270">
                <a:solidFill>
                  <a:schemeClr val="dk1"/>
                </a:solidFill>
              </a:rPr>
              <a:t>fewer videos but high subscribers</a:t>
            </a:r>
            <a:r>
              <a:rPr lang="en" sz="1270">
                <a:solidFill>
                  <a:schemeClr val="dk1"/>
                </a:solidFill>
              </a:rPr>
              <a:t> often have </a:t>
            </a:r>
            <a:r>
              <a:rPr b="1" lang="en" sz="1270">
                <a:solidFill>
                  <a:schemeClr val="dk1"/>
                </a:solidFill>
              </a:rPr>
              <a:t>higher Popularity Score</a:t>
            </a:r>
            <a:endParaRPr b="1" sz="12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270">
                <a:solidFill>
                  <a:schemeClr val="dk1"/>
                </a:solidFill>
              </a:rPr>
              <a:t>Distribution Trends:</a:t>
            </a:r>
            <a:endParaRPr b="1" sz="1270">
              <a:solidFill>
                <a:schemeClr val="dk1"/>
              </a:solidFill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70"/>
              <a:buChar char="●"/>
            </a:pPr>
            <a:r>
              <a:rPr lang="en" sz="1270">
                <a:solidFill>
                  <a:schemeClr val="dk1"/>
                </a:solidFill>
              </a:rPr>
              <a:t>Most channels have </a:t>
            </a:r>
            <a:r>
              <a:rPr b="1" lang="en" sz="1270">
                <a:solidFill>
                  <a:schemeClr val="dk1"/>
                </a:solidFill>
              </a:rPr>
              <a:t>moderate subscribers and views</a:t>
            </a:r>
            <a:endParaRPr b="1" sz="1270">
              <a:solidFill>
                <a:schemeClr val="dk1"/>
              </a:solidFill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0"/>
              <a:buChar char="●"/>
            </a:pPr>
            <a:r>
              <a:rPr lang="en" sz="1270">
                <a:solidFill>
                  <a:schemeClr val="dk1"/>
                </a:solidFill>
              </a:rPr>
              <a:t>Few channels dominate in </a:t>
            </a:r>
            <a:r>
              <a:rPr b="1" lang="en" sz="1270">
                <a:solidFill>
                  <a:schemeClr val="dk1"/>
                </a:solidFill>
              </a:rPr>
              <a:t>views and popularity</a:t>
            </a:r>
            <a:r>
              <a:rPr lang="en" sz="1270">
                <a:solidFill>
                  <a:schemeClr val="dk1"/>
                </a:solidFill>
              </a:rPr>
              <a:t>, showing </a:t>
            </a:r>
            <a:r>
              <a:rPr b="1" lang="en" sz="1270">
                <a:solidFill>
                  <a:schemeClr val="dk1"/>
                </a:solidFill>
              </a:rPr>
              <a:t>skewed distribution</a:t>
            </a:r>
            <a:endParaRPr b="1" sz="12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b="1" lang="en" sz="1270">
                <a:solidFill>
                  <a:schemeClr val="dk1"/>
                </a:solidFill>
              </a:rPr>
              <a:t>Patterns Observed:</a:t>
            </a:r>
            <a:endParaRPr b="1" sz="1270">
              <a:solidFill>
                <a:schemeClr val="dk1"/>
              </a:solidFill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70"/>
              <a:buChar char="●"/>
            </a:pPr>
            <a:r>
              <a:rPr lang="en" sz="1270">
                <a:solidFill>
                  <a:schemeClr val="dk1"/>
                </a:solidFill>
              </a:rPr>
              <a:t>Channels with </a:t>
            </a:r>
            <a:r>
              <a:rPr b="1" lang="en" sz="1270">
                <a:solidFill>
                  <a:schemeClr val="dk1"/>
                </a:solidFill>
              </a:rPr>
              <a:t>consistent uploads</a:t>
            </a:r>
            <a:r>
              <a:rPr lang="en" sz="1270">
                <a:solidFill>
                  <a:schemeClr val="dk1"/>
                </a:solidFill>
              </a:rPr>
              <a:t> tend to have </a:t>
            </a:r>
            <a:r>
              <a:rPr b="1" lang="en" sz="1270">
                <a:solidFill>
                  <a:schemeClr val="dk1"/>
                </a:solidFill>
              </a:rPr>
              <a:t>higher engagement per video</a:t>
            </a:r>
            <a:endParaRPr b="1" sz="1270">
              <a:solidFill>
                <a:schemeClr val="dk1"/>
              </a:solidFill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0"/>
              <a:buChar char="●"/>
            </a:pPr>
            <a:r>
              <a:rPr lang="en" sz="1270">
                <a:solidFill>
                  <a:schemeClr val="dk1"/>
                </a:solidFill>
              </a:rPr>
              <a:t>Popularity is influenced by both </a:t>
            </a:r>
            <a:r>
              <a:rPr b="1" lang="en" sz="1270">
                <a:solidFill>
                  <a:schemeClr val="dk1"/>
                </a:solidFill>
              </a:rPr>
              <a:t>subscriber count</a:t>
            </a:r>
            <a:r>
              <a:rPr lang="en" sz="1270">
                <a:solidFill>
                  <a:schemeClr val="dk1"/>
                </a:solidFill>
              </a:rPr>
              <a:t> and </a:t>
            </a:r>
            <a:r>
              <a:rPr b="1" lang="en" sz="1270">
                <a:solidFill>
                  <a:schemeClr val="dk1"/>
                </a:solidFill>
              </a:rPr>
              <a:t>average video views</a:t>
            </a:r>
            <a:endParaRPr b="1" sz="1270">
              <a:solidFill>
                <a:schemeClr val="dk1"/>
              </a:solidFill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0"/>
              <a:buChar char="●"/>
            </a:pPr>
            <a:r>
              <a:rPr lang="en" sz="1270">
                <a:solidFill>
                  <a:schemeClr val="dk1"/>
                </a:solidFill>
              </a:rPr>
              <a:t>Optional: Clusters can be identified for </a:t>
            </a:r>
            <a:r>
              <a:rPr b="1" lang="en" sz="1270">
                <a:solidFill>
                  <a:schemeClr val="dk1"/>
                </a:solidFill>
              </a:rPr>
              <a:t>emerging vs established influencers</a:t>
            </a:r>
            <a:endParaRPr b="1" sz="12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b="1" lang="en" sz="1270">
                <a:solidFill>
                  <a:schemeClr val="dk1"/>
                </a:solidFill>
              </a:rPr>
              <a:t>Conclusion:</a:t>
            </a:r>
            <a:endParaRPr b="1" sz="1270">
              <a:solidFill>
                <a:schemeClr val="dk1"/>
              </a:solidFill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70"/>
              <a:buChar char="●"/>
            </a:pPr>
            <a:r>
              <a:rPr lang="en" sz="1270">
                <a:solidFill>
                  <a:schemeClr val="dk1"/>
                </a:solidFill>
              </a:rPr>
              <a:t>Data provides </a:t>
            </a:r>
            <a:r>
              <a:rPr b="1" lang="en" sz="1270">
                <a:solidFill>
                  <a:schemeClr val="dk1"/>
                </a:solidFill>
              </a:rPr>
              <a:t>clear insight into K-pop influencer performance</a:t>
            </a:r>
            <a:endParaRPr b="1" sz="1270">
              <a:solidFill>
                <a:schemeClr val="dk1"/>
              </a:solidFill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70"/>
              <a:buChar char="●"/>
            </a:pPr>
            <a:r>
              <a:rPr lang="en" sz="1270">
                <a:solidFill>
                  <a:schemeClr val="dk1"/>
                </a:solidFill>
              </a:rPr>
              <a:t>Supports </a:t>
            </a:r>
            <a:r>
              <a:rPr b="1" lang="en" sz="1270">
                <a:solidFill>
                  <a:schemeClr val="dk1"/>
                </a:solidFill>
              </a:rPr>
              <a:t>prediction and marketing decisions</a:t>
            </a:r>
            <a:endParaRPr b="1" sz="127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26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87900" y="4105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24400" y="1352249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35">
                <a:solidFill>
                  <a:schemeClr val="dk1"/>
                </a:solidFill>
              </a:rPr>
              <a:t>How the dataset can be used:</a:t>
            </a:r>
            <a:endParaRPr b="1" sz="1335">
              <a:solidFill>
                <a:schemeClr val="dk1"/>
              </a:solidFill>
            </a:endParaRPr>
          </a:p>
          <a:p>
            <a:pPr indent="-3133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5"/>
              <a:buChar char="●"/>
            </a:pPr>
            <a:r>
              <a:rPr lang="en" sz="1335">
                <a:solidFill>
                  <a:schemeClr val="dk1"/>
                </a:solidFill>
              </a:rPr>
              <a:t>Predict future </a:t>
            </a:r>
            <a:r>
              <a:rPr b="1" lang="en" sz="1335">
                <a:solidFill>
                  <a:schemeClr val="dk1"/>
                </a:solidFill>
              </a:rPr>
              <a:t>popularity of K-pop influencers</a:t>
            </a:r>
            <a:endParaRPr b="1" sz="1335">
              <a:solidFill>
                <a:schemeClr val="dk1"/>
              </a:solidFill>
            </a:endParaRPr>
          </a:p>
          <a:p>
            <a:pPr indent="-3133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5"/>
              <a:buChar char="●"/>
            </a:pPr>
            <a:r>
              <a:rPr lang="en" sz="1335">
                <a:solidFill>
                  <a:schemeClr val="dk1"/>
                </a:solidFill>
              </a:rPr>
              <a:t>Identify which features (</a:t>
            </a:r>
            <a:r>
              <a:rPr b="1" lang="en" sz="1335">
                <a:solidFill>
                  <a:schemeClr val="dk1"/>
                </a:solidFill>
              </a:rPr>
              <a:t>Subscribers, Views, Avg Views per Video, Popularity Score</a:t>
            </a:r>
            <a:r>
              <a:rPr lang="en" sz="1335">
                <a:solidFill>
                  <a:schemeClr val="dk1"/>
                </a:solidFill>
              </a:rPr>
              <a:t>) are most predictive of growth</a:t>
            </a:r>
            <a:endParaRPr sz="1335">
              <a:solidFill>
                <a:schemeClr val="dk1"/>
              </a:solidFill>
            </a:endParaRPr>
          </a:p>
          <a:p>
            <a:pPr indent="-3133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5"/>
              <a:buChar char="●"/>
            </a:pPr>
            <a:r>
              <a:rPr lang="en" sz="1335">
                <a:solidFill>
                  <a:schemeClr val="dk1"/>
                </a:solidFill>
              </a:rPr>
              <a:t>Segment channels into </a:t>
            </a:r>
            <a:r>
              <a:rPr b="1" lang="en" sz="1335">
                <a:solidFill>
                  <a:schemeClr val="dk1"/>
                </a:solidFill>
              </a:rPr>
              <a:t>emerging, growing, and established influencers</a:t>
            </a:r>
            <a:endParaRPr b="1" sz="13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35">
                <a:solidFill>
                  <a:schemeClr val="dk1"/>
                </a:solidFill>
              </a:rPr>
              <a:t>Potential Approaches:</a:t>
            </a:r>
            <a:endParaRPr b="1" sz="1335">
              <a:solidFill>
                <a:schemeClr val="dk1"/>
              </a:solidFill>
            </a:endParaRPr>
          </a:p>
          <a:p>
            <a:pPr indent="-3133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5"/>
              <a:buChar char="●"/>
            </a:pPr>
            <a:r>
              <a:rPr b="1" lang="en" sz="1335">
                <a:solidFill>
                  <a:schemeClr val="dk1"/>
                </a:solidFill>
              </a:rPr>
              <a:t>Regression models</a:t>
            </a:r>
            <a:r>
              <a:rPr lang="en" sz="1335">
                <a:solidFill>
                  <a:schemeClr val="dk1"/>
                </a:solidFill>
              </a:rPr>
              <a:t> to predict future views or popularity score</a:t>
            </a:r>
            <a:endParaRPr sz="1335">
              <a:solidFill>
                <a:schemeClr val="dk1"/>
              </a:solidFill>
            </a:endParaRPr>
          </a:p>
          <a:p>
            <a:pPr indent="-3133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5"/>
              <a:buChar char="●"/>
            </a:pPr>
            <a:r>
              <a:rPr b="1" lang="en" sz="1335">
                <a:solidFill>
                  <a:schemeClr val="dk1"/>
                </a:solidFill>
              </a:rPr>
              <a:t>Clustering</a:t>
            </a:r>
            <a:r>
              <a:rPr lang="en" sz="1335">
                <a:solidFill>
                  <a:schemeClr val="dk1"/>
                </a:solidFill>
              </a:rPr>
              <a:t> to group similar influencers by engagement patterns</a:t>
            </a:r>
            <a:endParaRPr sz="1335">
              <a:solidFill>
                <a:schemeClr val="dk1"/>
              </a:solidFill>
            </a:endParaRPr>
          </a:p>
          <a:p>
            <a:pPr indent="-3133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5"/>
              <a:buChar char="●"/>
            </a:pPr>
            <a:r>
              <a:rPr b="1" lang="en" sz="1335">
                <a:solidFill>
                  <a:schemeClr val="dk1"/>
                </a:solidFill>
              </a:rPr>
              <a:t>Ranking algorithms</a:t>
            </a:r>
            <a:r>
              <a:rPr lang="en" sz="1335">
                <a:solidFill>
                  <a:schemeClr val="dk1"/>
                </a:solidFill>
              </a:rPr>
              <a:t> to identify top-performing channels</a:t>
            </a:r>
            <a:endParaRPr sz="13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n" sz="1335">
                <a:solidFill>
                  <a:schemeClr val="dk1"/>
                </a:solidFill>
              </a:rPr>
              <a:t>Actionable Insights:</a:t>
            </a:r>
            <a:endParaRPr b="1" sz="1335">
              <a:solidFill>
                <a:schemeClr val="dk1"/>
              </a:solidFill>
            </a:endParaRPr>
          </a:p>
          <a:p>
            <a:pPr indent="-3133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35"/>
              <a:buChar char="●"/>
            </a:pPr>
            <a:r>
              <a:rPr lang="en" sz="1335">
                <a:solidFill>
                  <a:schemeClr val="dk1"/>
                </a:solidFill>
              </a:rPr>
              <a:t>Prioritize </a:t>
            </a:r>
            <a:r>
              <a:rPr b="1" lang="en" sz="1335">
                <a:solidFill>
                  <a:schemeClr val="dk1"/>
                </a:solidFill>
              </a:rPr>
              <a:t>high-potential influencers</a:t>
            </a:r>
            <a:r>
              <a:rPr lang="en" sz="1335">
                <a:solidFill>
                  <a:schemeClr val="dk1"/>
                </a:solidFill>
              </a:rPr>
              <a:t> for marketing campaigns</a:t>
            </a:r>
            <a:endParaRPr sz="1335">
              <a:solidFill>
                <a:schemeClr val="dk1"/>
              </a:solidFill>
            </a:endParaRPr>
          </a:p>
          <a:p>
            <a:pPr indent="-3133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5"/>
              <a:buChar char="●"/>
            </a:pPr>
            <a:r>
              <a:rPr lang="en" sz="1335">
                <a:solidFill>
                  <a:schemeClr val="dk1"/>
                </a:solidFill>
              </a:rPr>
              <a:t>Monitor channels with </a:t>
            </a:r>
            <a:r>
              <a:rPr b="1" lang="en" sz="1335">
                <a:solidFill>
                  <a:schemeClr val="dk1"/>
                </a:solidFill>
              </a:rPr>
              <a:t>rapid growth</a:t>
            </a:r>
            <a:r>
              <a:rPr lang="en" sz="1335">
                <a:solidFill>
                  <a:schemeClr val="dk1"/>
                </a:solidFill>
              </a:rPr>
              <a:t> for collaborations</a:t>
            </a:r>
            <a:endParaRPr sz="1335">
              <a:solidFill>
                <a:schemeClr val="dk1"/>
              </a:solidFill>
            </a:endParaRPr>
          </a:p>
          <a:p>
            <a:pPr indent="-3133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5"/>
              <a:buChar char="●"/>
            </a:pPr>
            <a:r>
              <a:rPr lang="en" sz="1335">
                <a:solidFill>
                  <a:schemeClr val="dk1"/>
                </a:solidFill>
              </a:rPr>
              <a:t>Leverage </a:t>
            </a:r>
            <a:r>
              <a:rPr b="1" lang="en" sz="1335">
                <a:solidFill>
                  <a:schemeClr val="dk1"/>
                </a:solidFill>
              </a:rPr>
              <a:t>calculated metrics</a:t>
            </a:r>
            <a:r>
              <a:rPr lang="en" sz="1335">
                <a:solidFill>
                  <a:schemeClr val="dk1"/>
                </a:solidFill>
              </a:rPr>
              <a:t> like Popularity Score and Video Saturation to guide predictions</a:t>
            </a:r>
            <a:endParaRPr sz="13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Variable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Popularity_Score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Formula: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Subscribers × Avg Views per Video ÷ 1,000,000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Represents overall channel influence considering both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subscriber count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">
                <a:latin typeface="Arial"/>
                <a:ea typeface="Arial"/>
                <a:cs typeface="Arial"/>
                <a:sym typeface="Arial"/>
              </a:rPr>
              <a:t>engagement per video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Prediction Goal: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Predict future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Popularity_Score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for K-pop YouTube channels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Helps identify: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Top-performing influencers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Channels with high growth potential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Influencer marketing opportunities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 Used For Prediction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Subscribers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Views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Videos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Avg Views per Video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Subscribers per Video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Views per Subscriber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Video Saturation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Prediction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87900" y="1192525"/>
            <a:ext cx="8368200" cy="3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Predict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K-pop YouTube influencer popularity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based on channel and video metrics.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Input features include: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Average views per video, subscribers, subscriber growth, video engagement, and video count.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Output: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Popularity category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(High / Low) based on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threshold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: e.g., probability ≥ 0.5 → High popularity.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Threshold can be adjusted to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control sensitivity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for marketing decisions.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Supports identifying influencers likely to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perform well in the future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Enables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data-driven marketing and content strategy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700">
                <a:latin typeface="Arial"/>
                <a:ea typeface="Arial"/>
                <a:cs typeface="Arial"/>
                <a:sym typeface="Arial"/>
              </a:rPr>
              <a:t>Methodology / Workflow</a:t>
            </a:r>
            <a:endParaRPr sz="4400"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87900" y="128747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r>
              <a:rPr b="1" lang="en" sz="5367">
                <a:latin typeface="Arial"/>
                <a:ea typeface="Arial"/>
                <a:cs typeface="Arial"/>
                <a:sym typeface="Arial"/>
              </a:rPr>
              <a:t> Step-by-Step Process:</a:t>
            </a:r>
            <a:endParaRPr b="1" sz="5367">
              <a:latin typeface="Arial"/>
              <a:ea typeface="Arial"/>
              <a:cs typeface="Arial"/>
              <a:sym typeface="Arial"/>
            </a:endParaRPr>
          </a:p>
          <a:p>
            <a:pPr indent="-31381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b="1" lang="en" sz="5367">
                <a:latin typeface="Arial"/>
                <a:ea typeface="Arial"/>
                <a:cs typeface="Arial"/>
                <a:sym typeface="Arial"/>
              </a:rPr>
              <a:t>Data Collection</a:t>
            </a:r>
            <a:endParaRPr b="1" sz="5367">
              <a:latin typeface="Arial"/>
              <a:ea typeface="Arial"/>
              <a:cs typeface="Arial"/>
              <a:sym typeface="Arial"/>
            </a:endParaRPr>
          </a:p>
          <a:p>
            <a:pPr indent="-3138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5367">
                <a:latin typeface="Arial"/>
                <a:ea typeface="Arial"/>
                <a:cs typeface="Arial"/>
                <a:sym typeface="Arial"/>
              </a:rPr>
              <a:t>Gathered data from </a:t>
            </a:r>
            <a:r>
              <a:rPr i="1" lang="en" sz="5367">
                <a:latin typeface="Arial"/>
                <a:ea typeface="Arial"/>
                <a:cs typeface="Arial"/>
                <a:sym typeface="Arial"/>
              </a:rPr>
              <a:t>K-pop influencer metrics</a:t>
            </a:r>
            <a:r>
              <a:rPr lang="en" sz="5367">
                <a:latin typeface="Arial"/>
                <a:ea typeface="Arial"/>
                <a:cs typeface="Arial"/>
                <a:sym typeface="Arial"/>
              </a:rPr>
              <a:t> (subscribers, views, etc.)</a:t>
            </a:r>
            <a:endParaRPr sz="5367">
              <a:latin typeface="Arial"/>
              <a:ea typeface="Arial"/>
              <a:cs typeface="Arial"/>
              <a:sym typeface="Arial"/>
            </a:endParaRPr>
          </a:p>
          <a:p>
            <a:pPr indent="-3138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b="1" lang="en" sz="5367">
                <a:latin typeface="Arial"/>
                <a:ea typeface="Arial"/>
                <a:cs typeface="Arial"/>
                <a:sym typeface="Arial"/>
              </a:rPr>
              <a:t>Data Cleaning &amp; Preprocessing</a:t>
            </a:r>
            <a:endParaRPr b="1" sz="5367">
              <a:latin typeface="Arial"/>
              <a:ea typeface="Arial"/>
              <a:cs typeface="Arial"/>
              <a:sym typeface="Arial"/>
            </a:endParaRPr>
          </a:p>
          <a:p>
            <a:pPr indent="-3138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5367">
                <a:latin typeface="Arial"/>
                <a:ea typeface="Arial"/>
                <a:cs typeface="Arial"/>
                <a:sym typeface="Arial"/>
              </a:rPr>
              <a:t>Removed missing values and irrelevant columns</a:t>
            </a:r>
            <a:endParaRPr sz="5367">
              <a:latin typeface="Arial"/>
              <a:ea typeface="Arial"/>
              <a:cs typeface="Arial"/>
              <a:sym typeface="Arial"/>
            </a:endParaRPr>
          </a:p>
          <a:p>
            <a:pPr indent="-3138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5367">
                <a:latin typeface="Arial"/>
                <a:ea typeface="Arial"/>
                <a:cs typeface="Arial"/>
                <a:sym typeface="Arial"/>
              </a:rPr>
              <a:t>Scaled numerical features for better model performance</a:t>
            </a:r>
            <a:endParaRPr sz="5367">
              <a:latin typeface="Arial"/>
              <a:ea typeface="Arial"/>
              <a:cs typeface="Arial"/>
              <a:sym typeface="Arial"/>
            </a:endParaRPr>
          </a:p>
          <a:p>
            <a:pPr indent="-3138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b="1" lang="en" sz="5367">
                <a:latin typeface="Arial"/>
                <a:ea typeface="Arial"/>
                <a:cs typeface="Arial"/>
                <a:sym typeface="Arial"/>
              </a:rPr>
              <a:t>Feature Selection</a:t>
            </a:r>
            <a:endParaRPr b="1" sz="5367">
              <a:latin typeface="Arial"/>
              <a:ea typeface="Arial"/>
              <a:cs typeface="Arial"/>
              <a:sym typeface="Arial"/>
            </a:endParaRPr>
          </a:p>
          <a:p>
            <a:pPr indent="-3138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5367">
                <a:latin typeface="Arial"/>
                <a:ea typeface="Arial"/>
                <a:cs typeface="Arial"/>
                <a:sym typeface="Arial"/>
              </a:rPr>
              <a:t>Selected key predictors that influence engagement</a:t>
            </a:r>
            <a:endParaRPr sz="5367">
              <a:latin typeface="Arial"/>
              <a:ea typeface="Arial"/>
              <a:cs typeface="Arial"/>
              <a:sym typeface="Arial"/>
            </a:endParaRPr>
          </a:p>
          <a:p>
            <a:pPr indent="-3138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b="1" lang="en" sz="5367">
                <a:latin typeface="Arial"/>
                <a:ea typeface="Arial"/>
                <a:cs typeface="Arial"/>
                <a:sym typeface="Arial"/>
              </a:rPr>
              <a:t>Model Building</a:t>
            </a:r>
            <a:endParaRPr b="1" sz="5367">
              <a:latin typeface="Arial"/>
              <a:ea typeface="Arial"/>
              <a:cs typeface="Arial"/>
              <a:sym typeface="Arial"/>
            </a:endParaRPr>
          </a:p>
          <a:p>
            <a:pPr indent="-3138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5367">
                <a:latin typeface="Arial"/>
                <a:ea typeface="Arial"/>
                <a:cs typeface="Arial"/>
                <a:sym typeface="Arial"/>
              </a:rPr>
              <a:t>Built and trained a </a:t>
            </a:r>
            <a:r>
              <a:rPr b="1" lang="en" sz="5367">
                <a:latin typeface="Arial"/>
                <a:ea typeface="Arial"/>
                <a:cs typeface="Arial"/>
                <a:sym typeface="Arial"/>
              </a:rPr>
              <a:t>machine learning model (Decision Tree)</a:t>
            </a:r>
            <a:endParaRPr b="1" sz="5367">
              <a:latin typeface="Arial"/>
              <a:ea typeface="Arial"/>
              <a:cs typeface="Arial"/>
              <a:sym typeface="Arial"/>
            </a:endParaRPr>
          </a:p>
          <a:p>
            <a:pPr indent="-3138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5367">
                <a:latin typeface="Arial"/>
                <a:ea typeface="Arial"/>
                <a:cs typeface="Arial"/>
                <a:sym typeface="Arial"/>
              </a:rPr>
              <a:t>Evaluated performance using accuracy metrics</a:t>
            </a:r>
            <a:endParaRPr sz="5367">
              <a:latin typeface="Arial"/>
              <a:ea typeface="Arial"/>
              <a:cs typeface="Arial"/>
              <a:sym typeface="Arial"/>
            </a:endParaRPr>
          </a:p>
          <a:p>
            <a:pPr indent="-3138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b="1" lang="en" sz="5367">
                <a:latin typeface="Arial"/>
                <a:ea typeface="Arial"/>
                <a:cs typeface="Arial"/>
                <a:sym typeface="Arial"/>
              </a:rPr>
              <a:t>Web App Development</a:t>
            </a:r>
            <a:endParaRPr b="1" sz="5367">
              <a:latin typeface="Arial"/>
              <a:ea typeface="Arial"/>
              <a:cs typeface="Arial"/>
              <a:sym typeface="Arial"/>
            </a:endParaRPr>
          </a:p>
          <a:p>
            <a:pPr indent="-3138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5367">
                <a:latin typeface="Arial"/>
                <a:ea typeface="Arial"/>
                <a:cs typeface="Arial"/>
                <a:sym typeface="Arial"/>
              </a:rPr>
              <a:t>Integrated trained model with </a:t>
            </a:r>
            <a:r>
              <a:rPr b="1" lang="en" sz="5367">
                <a:latin typeface="Arial"/>
                <a:ea typeface="Arial"/>
                <a:cs typeface="Arial"/>
                <a:sym typeface="Arial"/>
              </a:rPr>
              <a:t>Flask backend</a:t>
            </a:r>
            <a:endParaRPr b="1" sz="5367">
              <a:latin typeface="Arial"/>
              <a:ea typeface="Arial"/>
              <a:cs typeface="Arial"/>
              <a:sym typeface="Arial"/>
            </a:endParaRPr>
          </a:p>
          <a:p>
            <a:pPr indent="-3138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5367">
                <a:latin typeface="Arial"/>
                <a:ea typeface="Arial"/>
                <a:cs typeface="Arial"/>
                <a:sym typeface="Arial"/>
              </a:rPr>
              <a:t>Created an interactive HTML dashboard with emojis and BTS theme</a:t>
            </a:r>
            <a:endParaRPr sz="5367">
              <a:latin typeface="Arial"/>
              <a:ea typeface="Arial"/>
              <a:cs typeface="Arial"/>
              <a:sym typeface="Arial"/>
            </a:endParaRPr>
          </a:p>
          <a:p>
            <a:pPr indent="-31381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AutoNum type="arabicPeriod"/>
            </a:pPr>
            <a:r>
              <a:rPr b="1" lang="en" sz="5367">
                <a:latin typeface="Arial"/>
                <a:ea typeface="Arial"/>
                <a:cs typeface="Arial"/>
                <a:sym typeface="Arial"/>
              </a:rPr>
              <a:t>Testing &amp; Validation</a:t>
            </a:r>
            <a:endParaRPr b="1" sz="5367">
              <a:latin typeface="Arial"/>
              <a:ea typeface="Arial"/>
              <a:cs typeface="Arial"/>
              <a:sym typeface="Arial"/>
            </a:endParaRPr>
          </a:p>
          <a:p>
            <a:pPr indent="-313813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○"/>
            </a:pPr>
            <a:r>
              <a:rPr lang="en" sz="5367">
                <a:latin typeface="Arial"/>
                <a:ea typeface="Arial"/>
                <a:cs typeface="Arial"/>
                <a:sym typeface="Arial"/>
              </a:rPr>
              <a:t>Tested predictions for various influencer inputs</a:t>
            </a:r>
            <a:endParaRPr sz="5367">
              <a:latin typeface="Arial"/>
              <a:ea typeface="Arial"/>
              <a:cs typeface="Arial"/>
              <a:sym typeface="Arial"/>
            </a:endParaRPr>
          </a:p>
          <a:p>
            <a:pPr indent="-246062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Char char="○"/>
            </a:pPr>
            <a:r>
              <a:rPr lang="en" sz="5367">
                <a:latin typeface="Arial"/>
                <a:ea typeface="Arial"/>
                <a:cs typeface="Arial"/>
                <a:sym typeface="Arial"/>
              </a:rPr>
              <a:t>Tuned model for better </a:t>
            </a:r>
            <a:r>
              <a:rPr lang="en" sz="5500">
                <a:latin typeface="Arial"/>
                <a:ea typeface="Arial"/>
                <a:cs typeface="Arial"/>
                <a:sym typeface="Arial"/>
              </a:rPr>
              <a:t>performance.</a:t>
            </a:r>
            <a:endParaRPr sz="5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Building Overview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Title: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Model Development Process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Three classification models were developed to predict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influencer engagement level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Decision Tree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Train-test split applied for performance evaluation.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Evaluation metrics: Accuracy, Precision, Recall, and F1-Score.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 Classifier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Title: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Model 1 – Decision Tree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Results: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Train Accuracy: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99.69%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Test Accuracy: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99.60%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Precision: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1.00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Recall: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0.99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F1-score: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0.99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Observation: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Excellent performance with balanced precision and recall.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Slight overfitting tendency but highly reliable for this dataset.</a:t>
            </a:r>
            <a:endParaRPr sz="166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989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Classifier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94">
                <a:latin typeface="Arial"/>
                <a:ea typeface="Arial"/>
                <a:cs typeface="Arial"/>
                <a:sym typeface="Arial"/>
              </a:rPr>
              <a:t>Title:</a:t>
            </a:r>
            <a:r>
              <a:rPr lang="en" sz="5294">
                <a:latin typeface="Arial"/>
                <a:ea typeface="Arial"/>
                <a:cs typeface="Arial"/>
                <a:sym typeface="Arial"/>
              </a:rPr>
              <a:t> Model 2 – Random Forest</a:t>
            </a:r>
            <a:br>
              <a:rPr lang="en" sz="5294">
                <a:latin typeface="Arial"/>
                <a:ea typeface="Arial"/>
                <a:cs typeface="Arial"/>
                <a:sym typeface="Arial"/>
              </a:rPr>
            </a:br>
            <a:r>
              <a:rPr b="1" lang="en" sz="5294">
                <a:latin typeface="Arial"/>
                <a:ea typeface="Arial"/>
                <a:cs typeface="Arial"/>
                <a:sym typeface="Arial"/>
              </a:rPr>
              <a:t>Results:</a:t>
            </a:r>
            <a:endParaRPr b="1" sz="5294">
              <a:latin typeface="Arial"/>
              <a:ea typeface="Arial"/>
              <a:cs typeface="Arial"/>
              <a:sym typeface="Arial"/>
            </a:endParaRPr>
          </a:p>
          <a:p>
            <a:pPr indent="-31264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" sz="5294">
                <a:latin typeface="Arial"/>
                <a:ea typeface="Arial"/>
                <a:cs typeface="Arial"/>
                <a:sym typeface="Arial"/>
              </a:rPr>
              <a:t>Train Accuracy:</a:t>
            </a:r>
            <a:r>
              <a:rPr lang="en" sz="5294">
                <a:latin typeface="Arial"/>
                <a:ea typeface="Arial"/>
                <a:cs typeface="Arial"/>
                <a:sym typeface="Arial"/>
              </a:rPr>
              <a:t> 99.75%</a:t>
            </a:r>
            <a:endParaRPr sz="5294">
              <a:latin typeface="Arial"/>
              <a:ea typeface="Arial"/>
              <a:cs typeface="Arial"/>
              <a:sym typeface="Arial"/>
            </a:endParaRPr>
          </a:p>
          <a:p>
            <a:pPr indent="-3126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" sz="5294">
                <a:latin typeface="Arial"/>
                <a:ea typeface="Arial"/>
                <a:cs typeface="Arial"/>
                <a:sym typeface="Arial"/>
              </a:rPr>
              <a:t>Test Accuracy:</a:t>
            </a:r>
            <a:r>
              <a:rPr lang="en" sz="5294">
                <a:latin typeface="Arial"/>
                <a:ea typeface="Arial"/>
                <a:cs typeface="Arial"/>
                <a:sym typeface="Arial"/>
              </a:rPr>
              <a:t> 99.60%</a:t>
            </a:r>
            <a:endParaRPr sz="5294">
              <a:latin typeface="Arial"/>
              <a:ea typeface="Arial"/>
              <a:cs typeface="Arial"/>
              <a:sym typeface="Arial"/>
            </a:endParaRPr>
          </a:p>
          <a:p>
            <a:pPr indent="-3126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" sz="5294">
                <a:latin typeface="Arial"/>
                <a:ea typeface="Arial"/>
                <a:cs typeface="Arial"/>
                <a:sym typeface="Arial"/>
              </a:rPr>
              <a:t>Precision:</a:t>
            </a:r>
            <a:r>
              <a:rPr lang="en" sz="5294">
                <a:latin typeface="Arial"/>
                <a:ea typeface="Arial"/>
                <a:cs typeface="Arial"/>
                <a:sym typeface="Arial"/>
              </a:rPr>
              <a:t> 99.00</a:t>
            </a:r>
            <a:endParaRPr sz="5294">
              <a:latin typeface="Arial"/>
              <a:ea typeface="Arial"/>
              <a:cs typeface="Arial"/>
              <a:sym typeface="Arial"/>
            </a:endParaRPr>
          </a:p>
          <a:p>
            <a:pPr indent="-3126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" sz="5294">
                <a:latin typeface="Arial"/>
                <a:ea typeface="Arial"/>
                <a:cs typeface="Arial"/>
                <a:sym typeface="Arial"/>
              </a:rPr>
              <a:t>Recall:</a:t>
            </a:r>
            <a:r>
              <a:rPr lang="en" sz="5294">
                <a:latin typeface="Arial"/>
                <a:ea typeface="Arial"/>
                <a:cs typeface="Arial"/>
                <a:sym typeface="Arial"/>
              </a:rPr>
              <a:t> 99.00</a:t>
            </a:r>
            <a:endParaRPr sz="5294">
              <a:latin typeface="Arial"/>
              <a:ea typeface="Arial"/>
              <a:cs typeface="Arial"/>
              <a:sym typeface="Arial"/>
            </a:endParaRPr>
          </a:p>
          <a:p>
            <a:pPr indent="-3126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b="1" lang="en" sz="5294">
                <a:latin typeface="Arial"/>
                <a:ea typeface="Arial"/>
                <a:cs typeface="Arial"/>
                <a:sym typeface="Arial"/>
              </a:rPr>
              <a:t>F1-score:</a:t>
            </a:r>
            <a:r>
              <a:rPr lang="en" sz="5294">
                <a:latin typeface="Arial"/>
                <a:ea typeface="Arial"/>
                <a:cs typeface="Arial"/>
                <a:sym typeface="Arial"/>
              </a:rPr>
              <a:t> 0.99</a:t>
            </a:r>
            <a:endParaRPr sz="5294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94">
                <a:latin typeface="Arial"/>
                <a:ea typeface="Arial"/>
                <a:cs typeface="Arial"/>
                <a:sym typeface="Arial"/>
              </a:rPr>
              <a:t>Observation:</a:t>
            </a:r>
            <a:endParaRPr b="1" sz="5294">
              <a:latin typeface="Arial"/>
              <a:ea typeface="Arial"/>
              <a:cs typeface="Arial"/>
              <a:sym typeface="Arial"/>
            </a:endParaRPr>
          </a:p>
          <a:p>
            <a:pPr indent="-312649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5294">
                <a:latin typeface="Arial"/>
                <a:ea typeface="Arial"/>
                <a:cs typeface="Arial"/>
                <a:sym typeface="Arial"/>
              </a:rPr>
              <a:t>Outperformed the Decision Tree slightly in recall.</a:t>
            </a:r>
            <a:endParaRPr sz="5294">
              <a:latin typeface="Arial"/>
              <a:ea typeface="Arial"/>
              <a:cs typeface="Arial"/>
              <a:sym typeface="Arial"/>
            </a:endParaRPr>
          </a:p>
          <a:p>
            <a:pPr indent="-3126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5294">
                <a:latin typeface="Arial"/>
                <a:ea typeface="Arial"/>
                <a:cs typeface="Arial"/>
                <a:sym typeface="Arial"/>
              </a:rPr>
              <a:t>Reduced overfitting and maintained near-perfect accuracy.</a:t>
            </a:r>
            <a:endParaRPr sz="5294">
              <a:latin typeface="Arial"/>
              <a:ea typeface="Arial"/>
              <a:cs typeface="Arial"/>
              <a:sym typeface="Arial"/>
            </a:endParaRPr>
          </a:p>
          <a:p>
            <a:pPr indent="-31264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 sz="5294">
                <a:latin typeface="Arial"/>
                <a:ea typeface="Arial"/>
                <a:cs typeface="Arial"/>
                <a:sym typeface="Arial"/>
              </a:rPr>
              <a:t>Selected as </a:t>
            </a:r>
            <a:r>
              <a:rPr b="1" lang="en" sz="5294">
                <a:latin typeface="Arial"/>
                <a:ea typeface="Arial"/>
                <a:cs typeface="Arial"/>
                <a:sym typeface="Arial"/>
              </a:rPr>
              <a:t>Best Performing Model</a:t>
            </a:r>
            <a:r>
              <a:rPr lang="en" sz="5294">
                <a:latin typeface="Arial"/>
                <a:ea typeface="Arial"/>
                <a:cs typeface="Arial"/>
                <a:sym typeface="Arial"/>
              </a:rPr>
              <a:t>.</a:t>
            </a:r>
            <a:endParaRPr sz="5294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Title: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Model 3 – Logistic Regression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Results: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Train Accuracy: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97.58%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Test Accuracy: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96.51%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Precision: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0.97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Recall: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0.98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F1-score: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0.97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Observation: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Good baseline model, slightly lower accuracy than tree-based models.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Performs well on linear patterns but less effective for complex feature interactions.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 Comparison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87900" y="1489825"/>
            <a:ext cx="86103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          | Train Accuracy |     Test Accuracy |         Class 1 Precision    | Class 1 Recall |  F1-Score          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                                                                                                                               (Class 1) |Notes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------------------------------- | ------------- | ---------------- | -------------- | ----------------- | -------------------------------------------------------------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Decision Tree            | 0.997          | 0.996         | 0.98             | 0.99           | 0.99                 | Simple, interpretable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Random Forest         | 0.998          | 0.996         | 0.97             | 99.00           | 99.00             | Robust, best recall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Logistic Regression | 0.976          | 0.965         | 0.81             | 1.00           | 0.90                 | Struggles with class 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Validation - F1 Score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87900" y="1300925"/>
            <a:ext cx="8368200" cy="32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[0.9971, 0.9971, 0.9963, 0.9942, 0.9934]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These are the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F1 scores from 5-fold cross-validation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All values are very high (≈0.993–0.997), indicating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consistently strong performance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across all folds.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❏"/>
            </a:pPr>
            <a:r>
              <a:rPr lang="en" sz="1500"/>
              <a:t>Mean CV F1 Score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Mean CV F1 score = 0.9956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This is the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average F1 score across folds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A mean of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0.9956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confirms the model is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highly accurate and balanced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in precision and recall.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Since it’s very close to your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train and test F1 scores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, the model is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not overfitting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Matrix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[852   1]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[  0 151]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True Negatives (0 predicted correctly):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852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False Positives (0 predicted as 1 incorrectly):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1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False Negatives (1 predicted as 0 incorrectly):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0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True Positives (1 predicted correctly):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151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✅ Interpretation: almost perfect predictions, just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1 false positive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291550" y="38575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Roboto Mono"/>
                <a:ea typeface="Roboto Mono"/>
                <a:cs typeface="Roboto Mono"/>
                <a:sym typeface="Roboto Mono"/>
              </a:rPr>
              <a:t>app.py</a:t>
            </a:r>
            <a:endParaRPr sz="4800"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. Created the Flask App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Initialized a Flask application to handle web requests.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Defined the app structure and routes.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2. Loaded Machine Learning Models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Loaded pre-trained models for pre-match and mid-match predictions.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Loaded encoders to handle categorical data.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3. Handled User Input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Took user inputs from HTML forms.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Processed inputs to match model requirements (e.g., encoding categories, numeric conversion).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87900" y="60525"/>
            <a:ext cx="8368200" cy="59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app.py(cont…)</a:t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87900" y="720900"/>
            <a:ext cx="8368200" cy="37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4. Prediction Logic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Sent processed inputs to the respective model.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Generated predictions based on user-provided data.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5. Feature Comparison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Compared relevant features and displayed a graph or table for users to visualize differences.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5. Rendered Results to Users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Displayed predictions dynamically on the web page.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Ensured user-friendly interaction and instant feedback.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6. Prepared for Deployment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Made </a:t>
            </a: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app.py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compatible with PythonAnywhere WSGI setup.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Enabled online access for anyone to use the app.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Roboto Mono"/>
                <a:ea typeface="Roboto Mono"/>
                <a:cs typeface="Roboto Mono"/>
                <a:sym typeface="Roboto Mono"/>
              </a:rPr>
              <a:t>home.html</a:t>
            </a:r>
            <a:r>
              <a:rPr lang="en" sz="2800"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" sz="2800"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endParaRPr sz="2800"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87900" y="1252750"/>
            <a:ext cx="8368200" cy="33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Purpose: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Provides the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front-end interface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for users to interact with the app.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Key Points: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Home Page (</a:t>
            </a:r>
            <a:r>
              <a:rPr b="1" lang="en" sz="1500">
                <a:latin typeface="Roboto Mono"/>
                <a:ea typeface="Roboto Mono"/>
                <a:cs typeface="Roboto Mono"/>
                <a:sym typeface="Roboto Mono"/>
              </a:rPr>
              <a:t>home.html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)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Introduces the app and its purpose.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Displays an input form for users to enter data.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Designed to be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user-friendly and visually appealing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(colors, layout, fonts).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Index / Result Page (</a:t>
            </a:r>
            <a:r>
              <a:rPr b="1" lang="en" sz="1500">
                <a:latin typeface="Roboto Mono"/>
                <a:ea typeface="Roboto Mono"/>
                <a:cs typeface="Roboto Mono"/>
                <a:sym typeface="Roboto Mono"/>
              </a:rPr>
              <a:t>index.html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)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Displays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predictions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after user submits the form.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Shows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feature comparison graphs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or tables.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Provides instant feedback with a clean layout.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</a:t>
            </a:r>
            <a:endParaRPr/>
          </a:p>
        </p:txBody>
      </p:sp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Design &amp; UX Enhancements: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Responsive layout for different screen sizes.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Clean fonts and consistent color scheme.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Optional images or icons for better visual appeal.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Animated or highlighted elements for better engagement.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Benefit: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Allows users to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easily input data and see results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without touching the code.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Supports dynamic interaction with Flask backend.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 on PythonAnywhere</a:t>
            </a:r>
            <a:endParaRPr/>
          </a:p>
        </p:txBody>
      </p:sp>
      <p:sp>
        <p:nvSpPr>
          <p:cNvPr id="202" name="Google Shape;202;p3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Created a PythonAnywhere account.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Uploaded project files: </a:t>
            </a: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app.py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, saved model (</a:t>
            </a: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.pkl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), encoders, HTML/CSS templates.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Set up a virtual environment with required libraries (</a:t>
            </a: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Flask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pandas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numpy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pickle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, etc.).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Configure the WSGI file to point to your Flask app.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Organize </a:t>
            </a: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500">
                <a:latin typeface="Roboto Mono"/>
                <a:ea typeface="Roboto Mono"/>
                <a:cs typeface="Roboto Mono"/>
                <a:sym typeface="Roboto Mono"/>
              </a:rPr>
              <a:t>templates</a:t>
            </a:r>
            <a:r>
              <a:rPr lang="en" sz="1500">
                <a:latin typeface="Arial"/>
                <a:ea typeface="Arial"/>
                <a:cs typeface="Arial"/>
                <a:sym typeface="Arial"/>
              </a:rPr>
              <a:t> folders for HTML, CSS, JS files.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Reload the web app and test via the provided PythonAnywhere URL.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Users can now access the app online for real-time predictions.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208" name="Google Shape;208;p3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Developed a highly accurate model (Random Forest) for model prediction.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Test Accuracy: ~99.6%, Cross-Validated F1: ~0.9956 → stable and robust.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Model deployed as a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web app on PythonAnywhere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for real-time predictions.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Access the deployed app here: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https://anishabnair.pythonanywhere.com/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Deployment ensures the model is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interactive and user-friendly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44"/>
              <a:t>THANK</a:t>
            </a:r>
            <a:r>
              <a:rPr lang="en" sz="5244"/>
              <a:t> </a:t>
            </a:r>
            <a:r>
              <a:rPr lang="en" sz="5244"/>
              <a:t>Y</a:t>
            </a:r>
            <a:r>
              <a:rPr lang="en" sz="5244"/>
              <a:t>OU</a:t>
            </a:r>
            <a:endParaRPr sz="5244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